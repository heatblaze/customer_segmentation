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6" r:id="rId1"/>
  </p:sldMasterIdLst>
  <p:sldIdLst>
    <p:sldId id="257" r:id="rId2"/>
    <p:sldId id="261" r:id="rId3"/>
    <p:sldId id="285" r:id="rId4"/>
    <p:sldId id="258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6" r:id="rId22"/>
    <p:sldId id="287" r:id="rId23"/>
    <p:sldId id="28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0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83CA92-2066-4BAC-8FB9-FA94A7A842E0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F5E01AFA-2EC1-4B1F-859E-07890B05DF21}">
      <dgm:prSet phldrT="[Text]" phldr="0"/>
      <dgm:spPr/>
      <dgm:t>
        <a:bodyPr/>
        <a:lstStyle/>
        <a:p>
          <a:r>
            <a:rPr lang="en-IN" dirty="0"/>
            <a:t>Raw Data</a:t>
          </a:r>
        </a:p>
      </dgm:t>
    </dgm:pt>
    <dgm:pt modelId="{E223BE70-360A-4603-8995-15FA372C73ED}" type="parTrans" cxnId="{06E804A4-5E6A-4EB2-99C9-9DFF24B96D1B}">
      <dgm:prSet/>
      <dgm:spPr/>
      <dgm:t>
        <a:bodyPr/>
        <a:lstStyle/>
        <a:p>
          <a:endParaRPr lang="en-IN"/>
        </a:p>
      </dgm:t>
    </dgm:pt>
    <dgm:pt modelId="{B4572040-3022-4E2C-9331-C9505FD15634}" type="sibTrans" cxnId="{06E804A4-5E6A-4EB2-99C9-9DFF24B96D1B}">
      <dgm:prSet/>
      <dgm:spPr/>
      <dgm:t>
        <a:bodyPr/>
        <a:lstStyle/>
        <a:p>
          <a:endParaRPr lang="en-IN" dirty="0"/>
        </a:p>
      </dgm:t>
    </dgm:pt>
    <dgm:pt modelId="{E7C58019-57E5-49C5-90A6-BEBA1F90BD16}">
      <dgm:prSet phldrT="[Text]" phldr="0"/>
      <dgm:spPr/>
      <dgm:t>
        <a:bodyPr/>
        <a:lstStyle/>
        <a:p>
          <a:r>
            <a:rPr lang="en-IN" dirty="0"/>
            <a:t>Data Preprocessing</a:t>
          </a:r>
        </a:p>
      </dgm:t>
    </dgm:pt>
    <dgm:pt modelId="{EFBE3050-63A9-4A7D-9812-258A1A58234A}" type="parTrans" cxnId="{FD814087-C237-4456-ADA8-1BE25BDCD033}">
      <dgm:prSet/>
      <dgm:spPr/>
      <dgm:t>
        <a:bodyPr/>
        <a:lstStyle/>
        <a:p>
          <a:endParaRPr lang="en-IN"/>
        </a:p>
      </dgm:t>
    </dgm:pt>
    <dgm:pt modelId="{99AF3305-3B7E-43D4-8701-71246569662D}" type="sibTrans" cxnId="{FD814087-C237-4456-ADA8-1BE25BDCD033}">
      <dgm:prSet/>
      <dgm:spPr/>
      <dgm:t>
        <a:bodyPr/>
        <a:lstStyle/>
        <a:p>
          <a:endParaRPr lang="en-IN" dirty="0"/>
        </a:p>
      </dgm:t>
    </dgm:pt>
    <dgm:pt modelId="{6B963C3D-DD43-4CBA-B026-75BC186F238D}">
      <dgm:prSet phldrT="[Text]" phldr="0"/>
      <dgm:spPr/>
      <dgm:t>
        <a:bodyPr/>
        <a:lstStyle/>
        <a:p>
          <a:r>
            <a:rPr lang="en-IN" dirty="0"/>
            <a:t>RFM Feature Calculation</a:t>
          </a:r>
        </a:p>
      </dgm:t>
    </dgm:pt>
    <dgm:pt modelId="{1A88446F-ED6C-4CB7-9772-F1508DEBBDDE}" type="parTrans" cxnId="{0EECC7C1-997B-4368-BAAF-E839481C9A65}">
      <dgm:prSet/>
      <dgm:spPr/>
      <dgm:t>
        <a:bodyPr/>
        <a:lstStyle/>
        <a:p>
          <a:endParaRPr lang="en-IN"/>
        </a:p>
      </dgm:t>
    </dgm:pt>
    <dgm:pt modelId="{055FFA86-7AC2-431A-8D50-52CFF04D7078}" type="sibTrans" cxnId="{0EECC7C1-997B-4368-BAAF-E839481C9A65}">
      <dgm:prSet/>
      <dgm:spPr/>
      <dgm:t>
        <a:bodyPr/>
        <a:lstStyle/>
        <a:p>
          <a:endParaRPr lang="en-IN"/>
        </a:p>
      </dgm:t>
    </dgm:pt>
    <dgm:pt modelId="{57D1A9C2-F26A-48E0-A71B-869B89AC46C1}" type="pres">
      <dgm:prSet presAssocID="{E783CA92-2066-4BAC-8FB9-FA94A7A842E0}" presName="Name0" presStyleCnt="0">
        <dgm:presLayoutVars>
          <dgm:dir/>
          <dgm:resizeHandles val="exact"/>
        </dgm:presLayoutVars>
      </dgm:prSet>
      <dgm:spPr/>
    </dgm:pt>
    <dgm:pt modelId="{DF225D26-AA2B-498B-95A1-83B3D0FF2D97}" type="pres">
      <dgm:prSet presAssocID="{F5E01AFA-2EC1-4B1F-859E-07890B05DF21}" presName="node" presStyleLbl="node1" presStyleIdx="0" presStyleCnt="3">
        <dgm:presLayoutVars>
          <dgm:bulletEnabled val="1"/>
        </dgm:presLayoutVars>
      </dgm:prSet>
      <dgm:spPr/>
    </dgm:pt>
    <dgm:pt modelId="{AF86303F-0C7A-466E-A952-DC57E5B10F51}" type="pres">
      <dgm:prSet presAssocID="{B4572040-3022-4E2C-9331-C9505FD15634}" presName="sibTrans" presStyleLbl="sibTrans2D1" presStyleIdx="0" presStyleCnt="2"/>
      <dgm:spPr/>
    </dgm:pt>
    <dgm:pt modelId="{676F87E8-1C8F-4456-B91C-4ADAFC933926}" type="pres">
      <dgm:prSet presAssocID="{B4572040-3022-4E2C-9331-C9505FD15634}" presName="connectorText" presStyleLbl="sibTrans2D1" presStyleIdx="0" presStyleCnt="2"/>
      <dgm:spPr/>
    </dgm:pt>
    <dgm:pt modelId="{A922242A-17C5-4545-8A1E-A8CC95A94C9E}" type="pres">
      <dgm:prSet presAssocID="{E7C58019-57E5-49C5-90A6-BEBA1F90BD16}" presName="node" presStyleLbl="node1" presStyleIdx="1" presStyleCnt="3" custLinFactNeighborX="-5781" custLinFactNeighborY="-82926">
        <dgm:presLayoutVars>
          <dgm:bulletEnabled val="1"/>
        </dgm:presLayoutVars>
      </dgm:prSet>
      <dgm:spPr/>
    </dgm:pt>
    <dgm:pt modelId="{DA6ABD59-F116-42D4-800D-76D8FB95D5F8}" type="pres">
      <dgm:prSet presAssocID="{99AF3305-3B7E-43D4-8701-71246569662D}" presName="sibTrans" presStyleLbl="sibTrans2D1" presStyleIdx="1" presStyleCnt="2"/>
      <dgm:spPr/>
    </dgm:pt>
    <dgm:pt modelId="{633EA54D-4F72-4174-860E-5693B67CF3D7}" type="pres">
      <dgm:prSet presAssocID="{99AF3305-3B7E-43D4-8701-71246569662D}" presName="connectorText" presStyleLbl="sibTrans2D1" presStyleIdx="1" presStyleCnt="2"/>
      <dgm:spPr/>
    </dgm:pt>
    <dgm:pt modelId="{A2B01A91-6A08-422F-ACAC-B52BC196E4A4}" type="pres">
      <dgm:prSet presAssocID="{6B963C3D-DD43-4CBA-B026-75BC186F238D}" presName="node" presStyleLbl="node1" presStyleIdx="2" presStyleCnt="3">
        <dgm:presLayoutVars>
          <dgm:bulletEnabled val="1"/>
        </dgm:presLayoutVars>
      </dgm:prSet>
      <dgm:spPr/>
    </dgm:pt>
  </dgm:ptLst>
  <dgm:cxnLst>
    <dgm:cxn modelId="{079C8200-3C97-4116-B21A-2B7447A9751D}" type="presOf" srcId="{F5E01AFA-2EC1-4B1F-859E-07890B05DF21}" destId="{DF225D26-AA2B-498B-95A1-83B3D0FF2D97}" srcOrd="0" destOrd="0" presId="urn:microsoft.com/office/officeart/2005/8/layout/process1"/>
    <dgm:cxn modelId="{C2CA3C0E-0565-4716-8A81-508EBA714792}" type="presOf" srcId="{E7C58019-57E5-49C5-90A6-BEBA1F90BD16}" destId="{A922242A-17C5-4545-8A1E-A8CC95A94C9E}" srcOrd="0" destOrd="0" presId="urn:microsoft.com/office/officeart/2005/8/layout/process1"/>
    <dgm:cxn modelId="{BF079414-64CC-48E3-A2C6-879A96BC4F36}" type="presOf" srcId="{99AF3305-3B7E-43D4-8701-71246569662D}" destId="{633EA54D-4F72-4174-860E-5693B67CF3D7}" srcOrd="1" destOrd="0" presId="urn:microsoft.com/office/officeart/2005/8/layout/process1"/>
    <dgm:cxn modelId="{E8B45726-234D-4BAB-BDF8-04567809FE25}" type="presOf" srcId="{B4572040-3022-4E2C-9331-C9505FD15634}" destId="{AF86303F-0C7A-466E-A952-DC57E5B10F51}" srcOrd="0" destOrd="0" presId="urn:microsoft.com/office/officeart/2005/8/layout/process1"/>
    <dgm:cxn modelId="{D3501F7B-9290-4D23-88F6-FE51A0AC92F3}" type="presOf" srcId="{99AF3305-3B7E-43D4-8701-71246569662D}" destId="{DA6ABD59-F116-42D4-800D-76D8FB95D5F8}" srcOrd="0" destOrd="0" presId="urn:microsoft.com/office/officeart/2005/8/layout/process1"/>
    <dgm:cxn modelId="{FD814087-C237-4456-ADA8-1BE25BDCD033}" srcId="{E783CA92-2066-4BAC-8FB9-FA94A7A842E0}" destId="{E7C58019-57E5-49C5-90A6-BEBA1F90BD16}" srcOrd="1" destOrd="0" parTransId="{EFBE3050-63A9-4A7D-9812-258A1A58234A}" sibTransId="{99AF3305-3B7E-43D4-8701-71246569662D}"/>
    <dgm:cxn modelId="{430E4F93-BC7C-4D66-9DA4-43F4207110C7}" type="presOf" srcId="{6B963C3D-DD43-4CBA-B026-75BC186F238D}" destId="{A2B01A91-6A08-422F-ACAC-B52BC196E4A4}" srcOrd="0" destOrd="0" presId="urn:microsoft.com/office/officeart/2005/8/layout/process1"/>
    <dgm:cxn modelId="{06E804A4-5E6A-4EB2-99C9-9DFF24B96D1B}" srcId="{E783CA92-2066-4BAC-8FB9-FA94A7A842E0}" destId="{F5E01AFA-2EC1-4B1F-859E-07890B05DF21}" srcOrd="0" destOrd="0" parTransId="{E223BE70-360A-4603-8995-15FA372C73ED}" sibTransId="{B4572040-3022-4E2C-9331-C9505FD15634}"/>
    <dgm:cxn modelId="{0EECC7C1-997B-4368-BAAF-E839481C9A65}" srcId="{E783CA92-2066-4BAC-8FB9-FA94A7A842E0}" destId="{6B963C3D-DD43-4CBA-B026-75BC186F238D}" srcOrd="2" destOrd="0" parTransId="{1A88446F-ED6C-4CB7-9772-F1508DEBBDDE}" sibTransId="{055FFA86-7AC2-431A-8D50-52CFF04D7078}"/>
    <dgm:cxn modelId="{965570F0-FB44-4AA5-A982-282119CE7A83}" type="presOf" srcId="{B4572040-3022-4E2C-9331-C9505FD15634}" destId="{676F87E8-1C8F-4456-B91C-4ADAFC933926}" srcOrd="1" destOrd="0" presId="urn:microsoft.com/office/officeart/2005/8/layout/process1"/>
    <dgm:cxn modelId="{2EBC70F6-CDE0-4846-93BE-B5A4BD321975}" type="presOf" srcId="{E783CA92-2066-4BAC-8FB9-FA94A7A842E0}" destId="{57D1A9C2-F26A-48E0-A71B-869B89AC46C1}" srcOrd="0" destOrd="0" presId="urn:microsoft.com/office/officeart/2005/8/layout/process1"/>
    <dgm:cxn modelId="{67190BF3-4B46-4468-87C1-4E466199DFA7}" type="presParOf" srcId="{57D1A9C2-F26A-48E0-A71B-869B89AC46C1}" destId="{DF225D26-AA2B-498B-95A1-83B3D0FF2D97}" srcOrd="0" destOrd="0" presId="urn:microsoft.com/office/officeart/2005/8/layout/process1"/>
    <dgm:cxn modelId="{BD4C5AAD-3137-446B-8AAF-12F452E5A4F4}" type="presParOf" srcId="{57D1A9C2-F26A-48E0-A71B-869B89AC46C1}" destId="{AF86303F-0C7A-466E-A952-DC57E5B10F51}" srcOrd="1" destOrd="0" presId="urn:microsoft.com/office/officeart/2005/8/layout/process1"/>
    <dgm:cxn modelId="{BB6F7D4F-9E86-4926-84E2-4F267ED4314A}" type="presParOf" srcId="{AF86303F-0C7A-466E-A952-DC57E5B10F51}" destId="{676F87E8-1C8F-4456-B91C-4ADAFC933926}" srcOrd="0" destOrd="0" presId="urn:microsoft.com/office/officeart/2005/8/layout/process1"/>
    <dgm:cxn modelId="{6AAC9C8E-E1F8-44F6-A5B3-CF05A6071AEA}" type="presParOf" srcId="{57D1A9C2-F26A-48E0-A71B-869B89AC46C1}" destId="{A922242A-17C5-4545-8A1E-A8CC95A94C9E}" srcOrd="2" destOrd="0" presId="urn:microsoft.com/office/officeart/2005/8/layout/process1"/>
    <dgm:cxn modelId="{E4AF6678-CA09-44E5-A7E4-80456F88A5E5}" type="presParOf" srcId="{57D1A9C2-F26A-48E0-A71B-869B89AC46C1}" destId="{DA6ABD59-F116-42D4-800D-76D8FB95D5F8}" srcOrd="3" destOrd="0" presId="urn:microsoft.com/office/officeart/2005/8/layout/process1"/>
    <dgm:cxn modelId="{3709D32E-A076-4247-80C8-A0974DC31D73}" type="presParOf" srcId="{DA6ABD59-F116-42D4-800D-76D8FB95D5F8}" destId="{633EA54D-4F72-4174-860E-5693B67CF3D7}" srcOrd="0" destOrd="0" presId="urn:microsoft.com/office/officeart/2005/8/layout/process1"/>
    <dgm:cxn modelId="{E08E5290-B931-4E76-8FCC-9984F4CA545A}" type="presParOf" srcId="{57D1A9C2-F26A-48E0-A71B-869B89AC46C1}" destId="{A2B01A91-6A08-422F-ACAC-B52BC196E4A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83CA92-2066-4BAC-8FB9-FA94A7A842E0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F5E01AFA-2EC1-4B1F-859E-07890B05DF21}">
      <dgm:prSet phldrT="[Text]" phldr="0"/>
      <dgm:spPr/>
      <dgm:t>
        <a:bodyPr/>
        <a:lstStyle/>
        <a:p>
          <a:r>
            <a:rPr lang="en-IN" dirty="0"/>
            <a:t>Feature Scaling</a:t>
          </a:r>
        </a:p>
      </dgm:t>
    </dgm:pt>
    <dgm:pt modelId="{E223BE70-360A-4603-8995-15FA372C73ED}" type="parTrans" cxnId="{06E804A4-5E6A-4EB2-99C9-9DFF24B96D1B}">
      <dgm:prSet/>
      <dgm:spPr/>
      <dgm:t>
        <a:bodyPr/>
        <a:lstStyle/>
        <a:p>
          <a:endParaRPr lang="en-IN"/>
        </a:p>
      </dgm:t>
    </dgm:pt>
    <dgm:pt modelId="{B4572040-3022-4E2C-9331-C9505FD15634}" type="sibTrans" cxnId="{06E804A4-5E6A-4EB2-99C9-9DFF24B96D1B}">
      <dgm:prSet/>
      <dgm:spPr>
        <a:solidFill>
          <a:srgbClr val="A5A5A5"/>
        </a:solidFill>
      </dgm:spPr>
      <dgm:t>
        <a:bodyPr/>
        <a:lstStyle/>
        <a:p>
          <a:endParaRPr lang="en-IN" dirty="0"/>
        </a:p>
      </dgm:t>
    </dgm:pt>
    <dgm:pt modelId="{E7C58019-57E5-49C5-90A6-BEBA1F90BD16}">
      <dgm:prSet phldrT="[Text]" phldr="0"/>
      <dgm:spPr/>
      <dgm:t>
        <a:bodyPr/>
        <a:lstStyle/>
        <a:p>
          <a:r>
            <a:rPr lang="en-IN" dirty="0"/>
            <a:t>KMeans Clustering </a:t>
          </a:r>
        </a:p>
      </dgm:t>
    </dgm:pt>
    <dgm:pt modelId="{EFBE3050-63A9-4A7D-9812-258A1A58234A}" type="parTrans" cxnId="{FD814087-C237-4456-ADA8-1BE25BDCD033}">
      <dgm:prSet/>
      <dgm:spPr/>
      <dgm:t>
        <a:bodyPr/>
        <a:lstStyle/>
        <a:p>
          <a:endParaRPr lang="en-IN"/>
        </a:p>
      </dgm:t>
    </dgm:pt>
    <dgm:pt modelId="{99AF3305-3B7E-43D4-8701-71246569662D}" type="sibTrans" cxnId="{FD814087-C237-4456-ADA8-1BE25BDCD033}">
      <dgm:prSet/>
      <dgm:spPr>
        <a:solidFill>
          <a:srgbClr val="ED7D31"/>
        </a:solidFill>
      </dgm:spPr>
      <dgm:t>
        <a:bodyPr/>
        <a:lstStyle/>
        <a:p>
          <a:endParaRPr lang="en-IN" dirty="0"/>
        </a:p>
      </dgm:t>
    </dgm:pt>
    <dgm:pt modelId="{6B963C3D-DD43-4CBA-B026-75BC186F238D}">
      <dgm:prSet phldrT="[Text]" phldr="0"/>
      <dgm:spPr/>
      <dgm:t>
        <a:bodyPr/>
        <a:lstStyle/>
        <a:p>
          <a:r>
            <a:rPr lang="en-IN" dirty="0"/>
            <a:t>Cluster Optimization</a:t>
          </a:r>
        </a:p>
      </dgm:t>
    </dgm:pt>
    <dgm:pt modelId="{1A88446F-ED6C-4CB7-9772-F1508DEBBDDE}" type="parTrans" cxnId="{0EECC7C1-997B-4368-BAAF-E839481C9A65}">
      <dgm:prSet/>
      <dgm:spPr/>
      <dgm:t>
        <a:bodyPr/>
        <a:lstStyle/>
        <a:p>
          <a:endParaRPr lang="en-IN"/>
        </a:p>
      </dgm:t>
    </dgm:pt>
    <dgm:pt modelId="{055FFA86-7AC2-431A-8D50-52CFF04D7078}" type="sibTrans" cxnId="{0EECC7C1-997B-4368-BAAF-E839481C9A65}">
      <dgm:prSet/>
      <dgm:spPr/>
      <dgm:t>
        <a:bodyPr/>
        <a:lstStyle/>
        <a:p>
          <a:endParaRPr lang="en-IN"/>
        </a:p>
      </dgm:t>
    </dgm:pt>
    <dgm:pt modelId="{57D1A9C2-F26A-48E0-A71B-869B89AC46C1}" type="pres">
      <dgm:prSet presAssocID="{E783CA92-2066-4BAC-8FB9-FA94A7A842E0}" presName="Name0" presStyleCnt="0">
        <dgm:presLayoutVars>
          <dgm:dir/>
          <dgm:resizeHandles val="exact"/>
        </dgm:presLayoutVars>
      </dgm:prSet>
      <dgm:spPr/>
    </dgm:pt>
    <dgm:pt modelId="{DF225D26-AA2B-498B-95A1-83B3D0FF2D97}" type="pres">
      <dgm:prSet presAssocID="{F5E01AFA-2EC1-4B1F-859E-07890B05DF21}" presName="node" presStyleLbl="node1" presStyleIdx="0" presStyleCnt="3" custLinFactX="15922" custLinFactNeighborX="100000" custLinFactNeighborY="-86720">
        <dgm:presLayoutVars>
          <dgm:bulletEnabled val="1"/>
        </dgm:presLayoutVars>
      </dgm:prSet>
      <dgm:spPr/>
    </dgm:pt>
    <dgm:pt modelId="{AF86303F-0C7A-466E-A952-DC57E5B10F51}" type="pres">
      <dgm:prSet presAssocID="{B4572040-3022-4E2C-9331-C9505FD15634}" presName="sibTrans" presStyleLbl="sibTrans2D1" presStyleIdx="0" presStyleCnt="2"/>
      <dgm:spPr/>
    </dgm:pt>
    <dgm:pt modelId="{676F87E8-1C8F-4456-B91C-4ADAFC933926}" type="pres">
      <dgm:prSet presAssocID="{B4572040-3022-4E2C-9331-C9505FD15634}" presName="connectorText" presStyleLbl="sibTrans2D1" presStyleIdx="0" presStyleCnt="2"/>
      <dgm:spPr/>
    </dgm:pt>
    <dgm:pt modelId="{A922242A-17C5-4545-8A1E-A8CC95A94C9E}" type="pres">
      <dgm:prSet presAssocID="{E7C58019-57E5-49C5-90A6-BEBA1F90BD16}" presName="node" presStyleLbl="node1" presStyleIdx="1" presStyleCnt="3" custLinFactX="28798" custLinFactNeighborX="100000" custLinFactNeighborY="-12277">
        <dgm:presLayoutVars>
          <dgm:bulletEnabled val="1"/>
        </dgm:presLayoutVars>
      </dgm:prSet>
      <dgm:spPr/>
    </dgm:pt>
    <dgm:pt modelId="{DA6ABD59-F116-42D4-800D-76D8FB95D5F8}" type="pres">
      <dgm:prSet presAssocID="{99AF3305-3B7E-43D4-8701-71246569662D}" presName="sibTrans" presStyleLbl="sibTrans2D1" presStyleIdx="1" presStyleCnt="2"/>
      <dgm:spPr/>
    </dgm:pt>
    <dgm:pt modelId="{633EA54D-4F72-4174-860E-5693B67CF3D7}" type="pres">
      <dgm:prSet presAssocID="{99AF3305-3B7E-43D4-8701-71246569662D}" presName="connectorText" presStyleLbl="sibTrans2D1" presStyleIdx="1" presStyleCnt="2"/>
      <dgm:spPr/>
    </dgm:pt>
    <dgm:pt modelId="{A2B01A91-6A08-422F-ACAC-B52BC196E4A4}" type="pres">
      <dgm:prSet presAssocID="{6B963C3D-DD43-4CBA-B026-75BC186F238D}" presName="node" presStyleLbl="node1" presStyleIdx="2" presStyleCnt="3" custLinFactX="-144078" custLinFactY="26858" custLinFactNeighborX="-200000" custLinFactNeighborY="100000">
        <dgm:presLayoutVars>
          <dgm:bulletEnabled val="1"/>
        </dgm:presLayoutVars>
      </dgm:prSet>
      <dgm:spPr/>
    </dgm:pt>
  </dgm:ptLst>
  <dgm:cxnLst>
    <dgm:cxn modelId="{079C8200-3C97-4116-B21A-2B7447A9751D}" type="presOf" srcId="{F5E01AFA-2EC1-4B1F-859E-07890B05DF21}" destId="{DF225D26-AA2B-498B-95A1-83B3D0FF2D97}" srcOrd="0" destOrd="0" presId="urn:microsoft.com/office/officeart/2005/8/layout/process1"/>
    <dgm:cxn modelId="{C2CA3C0E-0565-4716-8A81-508EBA714792}" type="presOf" srcId="{E7C58019-57E5-49C5-90A6-BEBA1F90BD16}" destId="{A922242A-17C5-4545-8A1E-A8CC95A94C9E}" srcOrd="0" destOrd="0" presId="urn:microsoft.com/office/officeart/2005/8/layout/process1"/>
    <dgm:cxn modelId="{BF079414-64CC-48E3-A2C6-879A96BC4F36}" type="presOf" srcId="{99AF3305-3B7E-43D4-8701-71246569662D}" destId="{633EA54D-4F72-4174-860E-5693B67CF3D7}" srcOrd="1" destOrd="0" presId="urn:microsoft.com/office/officeart/2005/8/layout/process1"/>
    <dgm:cxn modelId="{E8B45726-234D-4BAB-BDF8-04567809FE25}" type="presOf" srcId="{B4572040-3022-4E2C-9331-C9505FD15634}" destId="{AF86303F-0C7A-466E-A952-DC57E5B10F51}" srcOrd="0" destOrd="0" presId="urn:microsoft.com/office/officeart/2005/8/layout/process1"/>
    <dgm:cxn modelId="{D3501F7B-9290-4D23-88F6-FE51A0AC92F3}" type="presOf" srcId="{99AF3305-3B7E-43D4-8701-71246569662D}" destId="{DA6ABD59-F116-42D4-800D-76D8FB95D5F8}" srcOrd="0" destOrd="0" presId="urn:microsoft.com/office/officeart/2005/8/layout/process1"/>
    <dgm:cxn modelId="{FD814087-C237-4456-ADA8-1BE25BDCD033}" srcId="{E783CA92-2066-4BAC-8FB9-FA94A7A842E0}" destId="{E7C58019-57E5-49C5-90A6-BEBA1F90BD16}" srcOrd="1" destOrd="0" parTransId="{EFBE3050-63A9-4A7D-9812-258A1A58234A}" sibTransId="{99AF3305-3B7E-43D4-8701-71246569662D}"/>
    <dgm:cxn modelId="{430E4F93-BC7C-4D66-9DA4-43F4207110C7}" type="presOf" srcId="{6B963C3D-DD43-4CBA-B026-75BC186F238D}" destId="{A2B01A91-6A08-422F-ACAC-B52BC196E4A4}" srcOrd="0" destOrd="0" presId="urn:microsoft.com/office/officeart/2005/8/layout/process1"/>
    <dgm:cxn modelId="{06E804A4-5E6A-4EB2-99C9-9DFF24B96D1B}" srcId="{E783CA92-2066-4BAC-8FB9-FA94A7A842E0}" destId="{F5E01AFA-2EC1-4B1F-859E-07890B05DF21}" srcOrd="0" destOrd="0" parTransId="{E223BE70-360A-4603-8995-15FA372C73ED}" sibTransId="{B4572040-3022-4E2C-9331-C9505FD15634}"/>
    <dgm:cxn modelId="{0EECC7C1-997B-4368-BAAF-E839481C9A65}" srcId="{E783CA92-2066-4BAC-8FB9-FA94A7A842E0}" destId="{6B963C3D-DD43-4CBA-B026-75BC186F238D}" srcOrd="2" destOrd="0" parTransId="{1A88446F-ED6C-4CB7-9772-F1508DEBBDDE}" sibTransId="{055FFA86-7AC2-431A-8D50-52CFF04D7078}"/>
    <dgm:cxn modelId="{965570F0-FB44-4AA5-A982-282119CE7A83}" type="presOf" srcId="{B4572040-3022-4E2C-9331-C9505FD15634}" destId="{676F87E8-1C8F-4456-B91C-4ADAFC933926}" srcOrd="1" destOrd="0" presId="urn:microsoft.com/office/officeart/2005/8/layout/process1"/>
    <dgm:cxn modelId="{2EBC70F6-CDE0-4846-93BE-B5A4BD321975}" type="presOf" srcId="{E783CA92-2066-4BAC-8FB9-FA94A7A842E0}" destId="{57D1A9C2-F26A-48E0-A71B-869B89AC46C1}" srcOrd="0" destOrd="0" presId="urn:microsoft.com/office/officeart/2005/8/layout/process1"/>
    <dgm:cxn modelId="{67190BF3-4B46-4468-87C1-4E466199DFA7}" type="presParOf" srcId="{57D1A9C2-F26A-48E0-A71B-869B89AC46C1}" destId="{DF225D26-AA2B-498B-95A1-83B3D0FF2D97}" srcOrd="0" destOrd="0" presId="urn:microsoft.com/office/officeart/2005/8/layout/process1"/>
    <dgm:cxn modelId="{BD4C5AAD-3137-446B-8AAF-12F452E5A4F4}" type="presParOf" srcId="{57D1A9C2-F26A-48E0-A71B-869B89AC46C1}" destId="{AF86303F-0C7A-466E-A952-DC57E5B10F51}" srcOrd="1" destOrd="0" presId="urn:microsoft.com/office/officeart/2005/8/layout/process1"/>
    <dgm:cxn modelId="{BB6F7D4F-9E86-4926-84E2-4F267ED4314A}" type="presParOf" srcId="{AF86303F-0C7A-466E-A952-DC57E5B10F51}" destId="{676F87E8-1C8F-4456-B91C-4ADAFC933926}" srcOrd="0" destOrd="0" presId="urn:microsoft.com/office/officeart/2005/8/layout/process1"/>
    <dgm:cxn modelId="{6AAC9C8E-E1F8-44F6-A5B3-CF05A6071AEA}" type="presParOf" srcId="{57D1A9C2-F26A-48E0-A71B-869B89AC46C1}" destId="{A922242A-17C5-4545-8A1E-A8CC95A94C9E}" srcOrd="2" destOrd="0" presId="urn:microsoft.com/office/officeart/2005/8/layout/process1"/>
    <dgm:cxn modelId="{E4AF6678-CA09-44E5-A7E4-80456F88A5E5}" type="presParOf" srcId="{57D1A9C2-F26A-48E0-A71B-869B89AC46C1}" destId="{DA6ABD59-F116-42D4-800D-76D8FB95D5F8}" srcOrd="3" destOrd="0" presId="urn:microsoft.com/office/officeart/2005/8/layout/process1"/>
    <dgm:cxn modelId="{3709D32E-A076-4247-80C8-A0974DC31D73}" type="presParOf" srcId="{DA6ABD59-F116-42D4-800D-76D8FB95D5F8}" destId="{633EA54D-4F72-4174-860E-5693B67CF3D7}" srcOrd="0" destOrd="0" presId="urn:microsoft.com/office/officeart/2005/8/layout/process1"/>
    <dgm:cxn modelId="{E08E5290-B931-4E76-8FCC-9984F4CA545A}" type="presParOf" srcId="{57D1A9C2-F26A-48E0-A71B-869B89AC46C1}" destId="{A2B01A91-6A08-422F-ACAC-B52BC196E4A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83CA92-2066-4BAC-8FB9-FA94A7A842E0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F5E01AFA-2EC1-4B1F-859E-07890B05DF21}">
      <dgm:prSet phldrT="[Text]" phldr="0"/>
      <dgm:spPr/>
      <dgm:t>
        <a:bodyPr/>
        <a:lstStyle/>
        <a:p>
          <a:r>
            <a:rPr lang="en-IN" dirty="0"/>
            <a:t>Segment Labelling</a:t>
          </a:r>
        </a:p>
      </dgm:t>
    </dgm:pt>
    <dgm:pt modelId="{E223BE70-360A-4603-8995-15FA372C73ED}" type="parTrans" cxnId="{06E804A4-5E6A-4EB2-99C9-9DFF24B96D1B}">
      <dgm:prSet/>
      <dgm:spPr/>
      <dgm:t>
        <a:bodyPr/>
        <a:lstStyle/>
        <a:p>
          <a:endParaRPr lang="en-IN"/>
        </a:p>
      </dgm:t>
    </dgm:pt>
    <dgm:pt modelId="{B4572040-3022-4E2C-9331-C9505FD15634}" type="sibTrans" cxnId="{06E804A4-5E6A-4EB2-99C9-9DFF24B96D1B}">
      <dgm:prSet/>
      <dgm:spPr/>
      <dgm:t>
        <a:bodyPr/>
        <a:lstStyle/>
        <a:p>
          <a:endParaRPr lang="en-IN" dirty="0"/>
        </a:p>
      </dgm:t>
    </dgm:pt>
    <dgm:pt modelId="{E7C58019-57E5-49C5-90A6-BEBA1F90BD16}">
      <dgm:prSet phldrT="[Text]" phldr="0"/>
      <dgm:spPr/>
      <dgm:t>
        <a:bodyPr/>
        <a:lstStyle/>
        <a:p>
          <a:r>
            <a:rPr lang="en-IN" dirty="0"/>
            <a:t>Dashboard Visualization</a:t>
          </a:r>
        </a:p>
      </dgm:t>
    </dgm:pt>
    <dgm:pt modelId="{EFBE3050-63A9-4A7D-9812-258A1A58234A}" type="parTrans" cxnId="{FD814087-C237-4456-ADA8-1BE25BDCD033}">
      <dgm:prSet/>
      <dgm:spPr/>
      <dgm:t>
        <a:bodyPr/>
        <a:lstStyle/>
        <a:p>
          <a:endParaRPr lang="en-IN"/>
        </a:p>
      </dgm:t>
    </dgm:pt>
    <dgm:pt modelId="{99AF3305-3B7E-43D4-8701-71246569662D}" type="sibTrans" cxnId="{FD814087-C237-4456-ADA8-1BE25BDCD033}">
      <dgm:prSet/>
      <dgm:spPr/>
      <dgm:t>
        <a:bodyPr/>
        <a:lstStyle/>
        <a:p>
          <a:endParaRPr lang="en-IN"/>
        </a:p>
      </dgm:t>
    </dgm:pt>
    <dgm:pt modelId="{57D1A9C2-F26A-48E0-A71B-869B89AC46C1}" type="pres">
      <dgm:prSet presAssocID="{E783CA92-2066-4BAC-8FB9-FA94A7A842E0}" presName="Name0" presStyleCnt="0">
        <dgm:presLayoutVars>
          <dgm:dir val="rev"/>
          <dgm:resizeHandles val="exact"/>
        </dgm:presLayoutVars>
      </dgm:prSet>
      <dgm:spPr/>
    </dgm:pt>
    <dgm:pt modelId="{DF225D26-AA2B-498B-95A1-83B3D0FF2D97}" type="pres">
      <dgm:prSet presAssocID="{F5E01AFA-2EC1-4B1F-859E-07890B05DF21}" presName="node" presStyleLbl="node1" presStyleIdx="0" presStyleCnt="2" custLinFactNeighborX="1556">
        <dgm:presLayoutVars>
          <dgm:bulletEnabled val="1"/>
        </dgm:presLayoutVars>
      </dgm:prSet>
      <dgm:spPr/>
    </dgm:pt>
    <dgm:pt modelId="{AF86303F-0C7A-466E-A952-DC57E5B10F51}" type="pres">
      <dgm:prSet presAssocID="{B4572040-3022-4E2C-9331-C9505FD15634}" presName="sibTrans" presStyleLbl="sibTrans2D1" presStyleIdx="0" presStyleCnt="1"/>
      <dgm:spPr/>
    </dgm:pt>
    <dgm:pt modelId="{676F87E8-1C8F-4456-B91C-4ADAFC933926}" type="pres">
      <dgm:prSet presAssocID="{B4572040-3022-4E2C-9331-C9505FD15634}" presName="connectorText" presStyleLbl="sibTrans2D1" presStyleIdx="0" presStyleCnt="1"/>
      <dgm:spPr/>
    </dgm:pt>
    <dgm:pt modelId="{A922242A-17C5-4545-8A1E-A8CC95A94C9E}" type="pres">
      <dgm:prSet presAssocID="{E7C58019-57E5-49C5-90A6-BEBA1F90BD16}" presName="node" presStyleLbl="node1" presStyleIdx="1" presStyleCnt="2" custLinFactX="-55159" custLinFactNeighborX="-100000" custLinFactNeighborY="-71905">
        <dgm:presLayoutVars>
          <dgm:bulletEnabled val="1"/>
        </dgm:presLayoutVars>
      </dgm:prSet>
      <dgm:spPr/>
    </dgm:pt>
  </dgm:ptLst>
  <dgm:cxnLst>
    <dgm:cxn modelId="{079C8200-3C97-4116-B21A-2B7447A9751D}" type="presOf" srcId="{F5E01AFA-2EC1-4B1F-859E-07890B05DF21}" destId="{DF225D26-AA2B-498B-95A1-83B3D0FF2D97}" srcOrd="0" destOrd="0" presId="urn:microsoft.com/office/officeart/2005/8/layout/process1"/>
    <dgm:cxn modelId="{C2CA3C0E-0565-4716-8A81-508EBA714792}" type="presOf" srcId="{E7C58019-57E5-49C5-90A6-BEBA1F90BD16}" destId="{A922242A-17C5-4545-8A1E-A8CC95A94C9E}" srcOrd="0" destOrd="0" presId="urn:microsoft.com/office/officeart/2005/8/layout/process1"/>
    <dgm:cxn modelId="{E8B45726-234D-4BAB-BDF8-04567809FE25}" type="presOf" srcId="{B4572040-3022-4E2C-9331-C9505FD15634}" destId="{AF86303F-0C7A-466E-A952-DC57E5B10F51}" srcOrd="0" destOrd="0" presId="urn:microsoft.com/office/officeart/2005/8/layout/process1"/>
    <dgm:cxn modelId="{FD814087-C237-4456-ADA8-1BE25BDCD033}" srcId="{E783CA92-2066-4BAC-8FB9-FA94A7A842E0}" destId="{E7C58019-57E5-49C5-90A6-BEBA1F90BD16}" srcOrd="1" destOrd="0" parTransId="{EFBE3050-63A9-4A7D-9812-258A1A58234A}" sibTransId="{99AF3305-3B7E-43D4-8701-71246569662D}"/>
    <dgm:cxn modelId="{06E804A4-5E6A-4EB2-99C9-9DFF24B96D1B}" srcId="{E783CA92-2066-4BAC-8FB9-FA94A7A842E0}" destId="{F5E01AFA-2EC1-4B1F-859E-07890B05DF21}" srcOrd="0" destOrd="0" parTransId="{E223BE70-360A-4603-8995-15FA372C73ED}" sibTransId="{B4572040-3022-4E2C-9331-C9505FD15634}"/>
    <dgm:cxn modelId="{965570F0-FB44-4AA5-A982-282119CE7A83}" type="presOf" srcId="{B4572040-3022-4E2C-9331-C9505FD15634}" destId="{676F87E8-1C8F-4456-B91C-4ADAFC933926}" srcOrd="1" destOrd="0" presId="urn:microsoft.com/office/officeart/2005/8/layout/process1"/>
    <dgm:cxn modelId="{2EBC70F6-CDE0-4846-93BE-B5A4BD321975}" type="presOf" srcId="{E783CA92-2066-4BAC-8FB9-FA94A7A842E0}" destId="{57D1A9C2-F26A-48E0-A71B-869B89AC46C1}" srcOrd="0" destOrd="0" presId="urn:microsoft.com/office/officeart/2005/8/layout/process1"/>
    <dgm:cxn modelId="{67190BF3-4B46-4468-87C1-4E466199DFA7}" type="presParOf" srcId="{57D1A9C2-F26A-48E0-A71B-869B89AC46C1}" destId="{DF225D26-AA2B-498B-95A1-83B3D0FF2D97}" srcOrd="0" destOrd="0" presId="urn:microsoft.com/office/officeart/2005/8/layout/process1"/>
    <dgm:cxn modelId="{BD4C5AAD-3137-446B-8AAF-12F452E5A4F4}" type="presParOf" srcId="{57D1A9C2-F26A-48E0-A71B-869B89AC46C1}" destId="{AF86303F-0C7A-466E-A952-DC57E5B10F51}" srcOrd="1" destOrd="0" presId="urn:microsoft.com/office/officeart/2005/8/layout/process1"/>
    <dgm:cxn modelId="{BB6F7D4F-9E86-4926-84E2-4F267ED4314A}" type="presParOf" srcId="{AF86303F-0C7A-466E-A952-DC57E5B10F51}" destId="{676F87E8-1C8F-4456-B91C-4ADAFC933926}" srcOrd="0" destOrd="0" presId="urn:microsoft.com/office/officeart/2005/8/layout/process1"/>
    <dgm:cxn modelId="{6AAC9C8E-E1F8-44F6-A5B3-CF05A6071AEA}" type="presParOf" srcId="{57D1A9C2-F26A-48E0-A71B-869B89AC46C1}" destId="{A922242A-17C5-4545-8A1E-A8CC95A94C9E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25D26-AA2B-498B-95A1-83B3D0FF2D97}">
      <dsp:nvSpPr>
        <dsp:cNvPr id="0" name=""/>
        <dsp:cNvSpPr/>
      </dsp:nvSpPr>
      <dsp:spPr>
        <a:xfrm>
          <a:off x="5455" y="1158909"/>
          <a:ext cx="1630556" cy="9783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Raw Data</a:t>
          </a:r>
        </a:p>
      </dsp:txBody>
      <dsp:txXfrm>
        <a:off x="34109" y="1187563"/>
        <a:ext cx="1573248" cy="921025"/>
      </dsp:txXfrm>
    </dsp:sp>
    <dsp:sp modelId="{AF86303F-0C7A-466E-A952-DC57E5B10F51}">
      <dsp:nvSpPr>
        <dsp:cNvPr id="0" name=""/>
        <dsp:cNvSpPr/>
      </dsp:nvSpPr>
      <dsp:spPr>
        <a:xfrm rot="20407912">
          <a:off x="1779334" y="1036909"/>
          <a:ext cx="346307" cy="4043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1782426" y="1135439"/>
        <a:ext cx="242415" cy="242626"/>
      </dsp:txXfrm>
    </dsp:sp>
    <dsp:sp modelId="{A922242A-17C5-4545-8A1E-A8CC95A94C9E}">
      <dsp:nvSpPr>
        <dsp:cNvPr id="0" name=""/>
        <dsp:cNvSpPr/>
      </dsp:nvSpPr>
      <dsp:spPr>
        <a:xfrm>
          <a:off x="2250529" y="347616"/>
          <a:ext cx="1630556" cy="978333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Data Preprocessing</a:t>
          </a:r>
        </a:p>
      </dsp:txBody>
      <dsp:txXfrm>
        <a:off x="2279183" y="376270"/>
        <a:ext cx="1573248" cy="921025"/>
      </dsp:txXfrm>
    </dsp:sp>
    <dsp:sp modelId="{DA6ABD59-F116-42D4-800D-76D8FB95D5F8}">
      <dsp:nvSpPr>
        <dsp:cNvPr id="0" name=""/>
        <dsp:cNvSpPr/>
      </dsp:nvSpPr>
      <dsp:spPr>
        <a:xfrm rot="1156246">
          <a:off x="4042716" y="1043859"/>
          <a:ext cx="387365" cy="4043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4045972" y="1105559"/>
        <a:ext cx="271156" cy="242626"/>
      </dsp:txXfrm>
    </dsp:sp>
    <dsp:sp modelId="{A2B01A91-6A08-422F-ACAC-B52BC196E4A4}">
      <dsp:nvSpPr>
        <dsp:cNvPr id="0" name=""/>
        <dsp:cNvSpPr/>
      </dsp:nvSpPr>
      <dsp:spPr>
        <a:xfrm>
          <a:off x="4571013" y="1158909"/>
          <a:ext cx="1630556" cy="978333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RFM Feature Calculation</a:t>
          </a:r>
        </a:p>
      </dsp:txBody>
      <dsp:txXfrm>
        <a:off x="4599667" y="1187563"/>
        <a:ext cx="1573248" cy="9210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25D26-AA2B-498B-95A1-83B3D0FF2D97}">
      <dsp:nvSpPr>
        <dsp:cNvPr id="0" name=""/>
        <dsp:cNvSpPr/>
      </dsp:nvSpPr>
      <dsp:spPr>
        <a:xfrm>
          <a:off x="917295" y="310498"/>
          <a:ext cx="1630556" cy="9783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Feature Scaling</a:t>
          </a:r>
        </a:p>
      </dsp:txBody>
      <dsp:txXfrm>
        <a:off x="945949" y="339152"/>
        <a:ext cx="1573248" cy="921025"/>
      </dsp:txXfrm>
    </dsp:sp>
    <dsp:sp modelId="{AF86303F-0C7A-466E-A952-DC57E5B10F51}">
      <dsp:nvSpPr>
        <dsp:cNvPr id="0" name=""/>
        <dsp:cNvSpPr/>
      </dsp:nvSpPr>
      <dsp:spPr>
        <a:xfrm rot="977207">
          <a:off x="2753843" y="965405"/>
          <a:ext cx="476055" cy="404378"/>
        </a:xfrm>
        <a:prstGeom prst="rightArrow">
          <a:avLst>
            <a:gd name="adj1" fmla="val 60000"/>
            <a:gd name="adj2" fmla="val 50000"/>
          </a:avLst>
        </a:prstGeom>
        <a:solidFill>
          <a:srgbClr val="A5A5A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>
        <a:off x="2756277" y="1029270"/>
        <a:ext cx="354742" cy="242626"/>
      </dsp:txXfrm>
    </dsp:sp>
    <dsp:sp modelId="{A922242A-17C5-4545-8A1E-A8CC95A94C9E}">
      <dsp:nvSpPr>
        <dsp:cNvPr id="0" name=""/>
        <dsp:cNvSpPr/>
      </dsp:nvSpPr>
      <dsp:spPr>
        <a:xfrm>
          <a:off x="3410025" y="1038799"/>
          <a:ext cx="1630556" cy="978333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KMeans Clustering </a:t>
          </a:r>
        </a:p>
      </dsp:txBody>
      <dsp:txXfrm>
        <a:off x="3438679" y="1067453"/>
        <a:ext cx="1573248" cy="921025"/>
      </dsp:txXfrm>
    </dsp:sp>
    <dsp:sp modelId="{DA6ABD59-F116-42D4-800D-76D8FB95D5F8}">
      <dsp:nvSpPr>
        <dsp:cNvPr id="0" name=""/>
        <dsp:cNvSpPr/>
      </dsp:nvSpPr>
      <dsp:spPr>
        <a:xfrm rot="9170259">
          <a:off x="2709209" y="1971922"/>
          <a:ext cx="513592" cy="404378"/>
        </a:xfrm>
        <a:prstGeom prst="rightArrow">
          <a:avLst>
            <a:gd name="adj1" fmla="val 60000"/>
            <a:gd name="adj2" fmla="val 50000"/>
          </a:avLst>
        </a:prstGeom>
        <a:solidFill>
          <a:srgbClr val="ED7D3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 rot="10800000">
        <a:off x="2823833" y="2025107"/>
        <a:ext cx="392279" cy="242626"/>
      </dsp:txXfrm>
    </dsp:sp>
    <dsp:sp modelId="{A2B01A91-6A08-422F-ACAC-B52BC196E4A4}">
      <dsp:nvSpPr>
        <dsp:cNvPr id="0" name=""/>
        <dsp:cNvSpPr/>
      </dsp:nvSpPr>
      <dsp:spPr>
        <a:xfrm>
          <a:off x="917295" y="2317819"/>
          <a:ext cx="1630556" cy="978333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Cluster Optimization</a:t>
          </a:r>
        </a:p>
      </dsp:txBody>
      <dsp:txXfrm>
        <a:off x="945949" y="2346473"/>
        <a:ext cx="1573248" cy="9210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25D26-AA2B-498B-95A1-83B3D0FF2D97}">
      <dsp:nvSpPr>
        <dsp:cNvPr id="0" name=""/>
        <dsp:cNvSpPr/>
      </dsp:nvSpPr>
      <dsp:spPr>
        <a:xfrm>
          <a:off x="2295237" y="403921"/>
          <a:ext cx="1638357" cy="983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Segment Labelling</a:t>
          </a:r>
        </a:p>
      </dsp:txBody>
      <dsp:txXfrm>
        <a:off x="2324028" y="432712"/>
        <a:ext cx="1580775" cy="925432"/>
      </dsp:txXfrm>
    </dsp:sp>
    <dsp:sp modelId="{AF86303F-0C7A-466E-A952-DC57E5B10F51}">
      <dsp:nvSpPr>
        <dsp:cNvPr id="0" name=""/>
        <dsp:cNvSpPr/>
      </dsp:nvSpPr>
      <dsp:spPr>
        <a:xfrm rot="11398852">
          <a:off x="1780196" y="488577"/>
          <a:ext cx="353496" cy="4063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 rot="10800000">
        <a:off x="1885443" y="579029"/>
        <a:ext cx="247447" cy="243788"/>
      </dsp:txXfrm>
    </dsp:sp>
    <dsp:sp modelId="{A922242A-17C5-4545-8A1E-A8CC95A94C9E}">
      <dsp:nvSpPr>
        <dsp:cNvPr id="0" name=""/>
        <dsp:cNvSpPr/>
      </dsp:nvSpPr>
      <dsp:spPr>
        <a:xfrm>
          <a:off x="0" y="0"/>
          <a:ext cx="1638357" cy="983014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Dashboard Visualization</a:t>
          </a:r>
        </a:p>
      </dsp:txBody>
      <dsp:txXfrm>
        <a:off x="28791" y="28791"/>
        <a:ext cx="1580775" cy="925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83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8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95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59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80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92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3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7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6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358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41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253DF-92C7-4866-B15B-B1C1B7BF146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209C8-FDF6-43A4-A774-469A23ED9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90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image" Target="../media/image1.png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0929-8126-6D5E-DBC8-026598A17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003" y="2282170"/>
            <a:ext cx="11643994" cy="981073"/>
          </a:xfrm>
        </p:spPr>
        <p:txBody>
          <a:bodyPr>
            <a:noAutofit/>
          </a:bodyPr>
          <a:lstStyle/>
          <a:p>
            <a:r>
              <a:rPr lang="en-US" sz="4000" b="1" dirty="0"/>
              <a:t>Dynamic Customer Behavior Segmentation &amp; Retail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301D2-211A-7B33-32B5-9BF44B2D1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8749" y="3809998"/>
            <a:ext cx="3434499" cy="2362202"/>
          </a:xfrm>
        </p:spPr>
        <p:txBody>
          <a:bodyPr>
            <a:normAutofit/>
          </a:bodyPr>
          <a:lstStyle/>
          <a:p>
            <a:r>
              <a:rPr lang="en-US" dirty="0"/>
              <a:t>Aditya Chitransh</a:t>
            </a:r>
          </a:p>
          <a:p>
            <a:r>
              <a:rPr lang="en-US" dirty="0"/>
              <a:t>225891212</a:t>
            </a:r>
          </a:p>
          <a:p>
            <a:r>
              <a:rPr lang="en-US" b="1" dirty="0"/>
              <a:t>Under Supervision </a:t>
            </a:r>
          </a:p>
          <a:p>
            <a:r>
              <a:rPr lang="en-US" dirty="0"/>
              <a:t>Dr. Ignisha Rajathi G</a:t>
            </a:r>
          </a:p>
          <a:p>
            <a:r>
              <a:rPr lang="en-US" dirty="0"/>
              <a:t> Mr. Aman Ashwin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7B882-A125-B61B-F3DC-5932289895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9F67BA-9F66-C19D-E746-2E78241DF7AF}"/>
              </a:ext>
            </a:extLst>
          </p:cNvPr>
          <p:cNvSpPr txBox="1"/>
          <p:nvPr/>
        </p:nvSpPr>
        <p:spPr>
          <a:xfrm>
            <a:off x="1309687" y="1212195"/>
            <a:ext cx="9572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Phase 2- Mid Term Presentation for Industry Project </a:t>
            </a:r>
          </a:p>
        </p:txBody>
      </p:sp>
    </p:spTree>
    <p:extLst>
      <p:ext uri="{BB962C8B-B14F-4D97-AF65-F5344CB8AC3E}">
        <p14:creationId xmlns:p14="http://schemas.microsoft.com/office/powerpoint/2010/main" val="6593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3A4A-4149-73A2-FB94-D29FEDC36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56502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Company Details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F29AC-8C28-0E3B-B81C-F26689A7E4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960677" y="96837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931D6C-BF12-9B07-2E50-B839D5231268}"/>
              </a:ext>
            </a:extLst>
          </p:cNvPr>
          <p:cNvSpPr txBox="1"/>
          <p:nvPr/>
        </p:nvSpPr>
        <p:spPr>
          <a:xfrm>
            <a:off x="838200" y="1690688"/>
            <a:ext cx="109924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Company Name:</a:t>
            </a:r>
            <a:r>
              <a:rPr lang="en-IN" dirty="0"/>
              <a:t> BeatRoute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Domain: </a:t>
            </a:r>
            <a:r>
              <a:rPr lang="en-IN" dirty="0"/>
              <a:t>AI-driven Sales Enablement &amp; Retail Intelligence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Role: </a:t>
            </a:r>
            <a:r>
              <a:rPr lang="en-IN" dirty="0"/>
              <a:t>AI/ML Intern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Duration: </a:t>
            </a:r>
            <a:r>
              <a:rPr lang="en-IN" dirty="0"/>
              <a:t>September 2025 – April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Key Responsibilities: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Worked on AI-based solutions for retail and sales automation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Contributed to development of intelligent agents (Sales Agent, Invoice Agent, Audit Agent)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Assisted in analysing customer and transaction data for business insights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Implemented and tested backend logic for data processing and automation workflows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Collaborated with team members using Git and version control 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8700E2-B77A-278F-961B-647B79472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16383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89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2A0C0-2E8C-CDB4-0901-6D8989B5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FA27-6455-C186-BF22-767F6567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56502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Company Details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26C9B-4B19-1BD4-12A4-BA941E460B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960677" y="96837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38B0C-4138-A1BC-3238-0312D5373E67}"/>
              </a:ext>
            </a:extLst>
          </p:cNvPr>
          <p:cNvSpPr txBox="1"/>
          <p:nvPr/>
        </p:nvSpPr>
        <p:spPr>
          <a:xfrm>
            <a:off x="838200" y="1690688"/>
            <a:ext cx="109924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Technologies Used: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Python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Machine Learning concepts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Docker (for containerization)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Git &amp; GitHub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Data processing using pandas 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Learning Outcomes: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Gained practical experience in applying AI/ML to real-world business problems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Understood how data-driven systems are built and deployed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Improved skills in backend development and system design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Learned how analytics can be used to support business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78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068-29B0-E02B-42F5-4E70D285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/>
          </a:bodyPr>
          <a:lstStyle/>
          <a:p>
            <a:r>
              <a:rPr lang="en-US" sz="40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0355-EAFD-C3CB-BAF6-3FAF36CA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56760"/>
            <a:ext cx="9097491" cy="35444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In today’s retail environment, companies generate a huge amount of transaction data on a daily basis. However, most of this data is not effectively used for decision-making.</a:t>
            </a:r>
          </a:p>
          <a:p>
            <a:r>
              <a:rPr lang="en-US" dirty="0"/>
              <a:t>Businesses often struggle to identify which customers are truly valuable and how their behavior changes over time.</a:t>
            </a:r>
          </a:p>
          <a:p>
            <a:r>
              <a:rPr lang="en-US" dirty="0"/>
              <a:t>This project focuses on building a system that can automatically analyze customer data, segment them into meaningful groups, and present the results through an interactive dashboard.</a:t>
            </a:r>
          </a:p>
          <a:p>
            <a:r>
              <a:rPr lang="en-US" dirty="0"/>
              <a:t>The aim is to make customer data more useful and easier to understand.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2FEE3-37E7-82C2-A79F-D314ADDA63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203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F89BA-5D82-3D3A-217B-ADFC1866A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00FC8-50EB-BF73-3E2C-8212B1A24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755" y="1421644"/>
            <a:ext cx="9097491" cy="3763258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000" b="1" dirty="0"/>
              <a:t>Problem Statement</a:t>
            </a:r>
          </a:p>
          <a:p>
            <a:r>
              <a:rPr lang="en-US" sz="2400" dirty="0"/>
              <a:t>Most businesses collect large amounts of customer data but struggle to use it effectively.</a:t>
            </a:r>
          </a:p>
          <a:p>
            <a:r>
              <a:rPr lang="en-US" sz="2400" dirty="0"/>
              <a:t>Customer segmentation is often done manually or using fixed methods, which do not scale well and fail to capture changing behavior.</a:t>
            </a:r>
          </a:p>
          <a:p>
            <a:r>
              <a:rPr lang="en-US" sz="2400" dirty="0"/>
              <a:t>There is a need for a system that can automatically analyze data, segment customers, and provide clear insights in an efficient way.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AD95A-BEA4-04CE-F0F7-0D12DD4467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3644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6ED3F-A3D1-BED1-BB53-8A9A4631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9C35-217A-5640-920B-2F4C778D9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291" y="1638301"/>
            <a:ext cx="9097491" cy="484822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200" b="1" dirty="0"/>
              <a:t>Objectives of this project</a:t>
            </a:r>
            <a:endParaRPr lang="en-US" dirty="0"/>
          </a:p>
          <a:p>
            <a:r>
              <a:rPr lang="en-US" sz="2600" dirty="0"/>
              <a:t>To segment customers based on their behavior using data-driven methods.</a:t>
            </a:r>
          </a:p>
          <a:p>
            <a:r>
              <a:rPr lang="en-US" sz="2600" dirty="0"/>
              <a:t>To apply machine learning techniques for accurate grouping</a:t>
            </a:r>
          </a:p>
          <a:p>
            <a:r>
              <a:rPr lang="en-US" sz="2600" dirty="0"/>
              <a:t>To visualize the results in an interactive dashboard</a:t>
            </a:r>
          </a:p>
          <a:p>
            <a:r>
              <a:rPr lang="en-US" sz="2600" dirty="0"/>
              <a:t>To generate meaningful insights from the data</a:t>
            </a:r>
          </a:p>
          <a:p>
            <a:r>
              <a:rPr lang="en-US" sz="2600" dirty="0"/>
              <a:t>To design a system that is modular and scalable</a:t>
            </a:r>
            <a:br>
              <a:rPr lang="en-US" sz="2600" dirty="0"/>
            </a:br>
            <a:br>
              <a:rPr lang="en-US" sz="2600" dirty="0"/>
            </a:b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1977EB-E426-9077-D2C0-FF3CE8AA2C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9199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D7F17-8C6D-8388-DE70-557F9F84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7F36-1A75-441F-36FA-CA062A74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/>
          </a:bodyPr>
          <a:lstStyle/>
          <a:p>
            <a:r>
              <a:rPr lang="en-US" sz="4000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494B-BE01-4B57-774D-B6D374B3E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000" b="1" dirty="0"/>
              <a:t>Existing solutions</a:t>
            </a:r>
          </a:p>
          <a:p>
            <a:r>
              <a:rPr lang="en-US" sz="2400" dirty="0"/>
              <a:t>Customer segmentation has been widely studied using techniques like RFM analysis, which considers recency, frequency, and monetary value.</a:t>
            </a:r>
          </a:p>
          <a:p>
            <a:r>
              <a:rPr lang="en-US" sz="2400" dirty="0"/>
              <a:t>Clustering algorithms such as KMeans are commonly used to group customers based on similar behavior.</a:t>
            </a:r>
          </a:p>
          <a:p>
            <a:r>
              <a:rPr lang="en-US" sz="2400" dirty="0"/>
              <a:t>However, most existing solutions focus only on analysis or require manual setup using tools like BI dashboards.</a:t>
            </a:r>
            <a:br>
              <a:rPr lang="en-US" sz="2600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30AE7-7444-80C5-9A1B-7EF5808477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5998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CDDE5-5D57-B822-9CCC-F49F2FC8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1D038-1F71-4EE6-432E-6B81BBC2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000" b="1" dirty="0"/>
              <a:t>Gaps Identified</a:t>
            </a:r>
          </a:p>
          <a:p>
            <a:r>
              <a:rPr lang="en-US" sz="2400" dirty="0"/>
              <a:t>Lack of fully automated segmentation systems  </a:t>
            </a:r>
          </a:p>
          <a:p>
            <a:r>
              <a:rPr lang="en-US" sz="2400" dirty="0"/>
              <a:t>Use of fixed cluster values instead of optimized ones  </a:t>
            </a:r>
          </a:p>
          <a:p>
            <a:r>
              <a:rPr lang="en-US" sz="2400" dirty="0"/>
              <a:t>Limited integration between machine learning and visualization  </a:t>
            </a:r>
          </a:p>
          <a:p>
            <a:r>
              <a:rPr lang="en-US" sz="2400" dirty="0"/>
              <a:t>Lack of clear business insights from the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E53C2-5D1F-E307-4C5C-2523EAF8B9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8930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23434-CCFB-9A3A-2C3F-2674BA12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1A04-9FBA-253C-3028-567507FCB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/>
          </a:bodyPr>
          <a:lstStyle/>
          <a:p>
            <a:r>
              <a:rPr lang="en-US" sz="4000"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24B1-51E3-6253-66BF-684B8428F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000" b="1" dirty="0"/>
              <a:t>Approach</a:t>
            </a:r>
            <a:endParaRPr lang="en-US" dirty="0"/>
          </a:p>
          <a:p>
            <a:r>
              <a:rPr lang="en-US" sz="2400" dirty="0"/>
              <a:t>Developed a system that combines data processing, machine learning, and visualization into one platform.</a:t>
            </a:r>
          </a:p>
          <a:p>
            <a:r>
              <a:rPr lang="en-US" sz="2400" dirty="0"/>
              <a:t>The system calculates customer behavior metrics, applies clustering to group customers, and displays the results through an interactive dashboard.</a:t>
            </a:r>
          </a:p>
          <a:p>
            <a:r>
              <a:rPr lang="en-US" sz="2400" dirty="0"/>
              <a:t>It also generates insights to help understand the data better.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CF54C-823A-B62B-78AA-45C7556E5B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84947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341AA-D754-C67B-DE9C-B8C7908B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0CE36-990B-0A39-4F0B-317F6BC93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000" b="1" dirty="0"/>
              <a:t>How It Improves Upon Existing Solutions</a:t>
            </a:r>
          </a:p>
          <a:p>
            <a:r>
              <a:rPr lang="en-US" sz="2400" dirty="0"/>
              <a:t>Automates the entire segmentation process  </a:t>
            </a:r>
          </a:p>
          <a:p>
            <a:r>
              <a:rPr lang="en-US" sz="2400" dirty="0"/>
              <a:t>Uses cluster optimization instead of fixed values  </a:t>
            </a:r>
          </a:p>
          <a:p>
            <a:r>
              <a:rPr lang="en-US" sz="2400" dirty="0"/>
              <a:t>Provides an interactive and user-friendly dashboard  </a:t>
            </a:r>
          </a:p>
          <a:p>
            <a:r>
              <a:rPr lang="en-US" sz="2400" dirty="0"/>
              <a:t>Generates business insights instead of just raw results  </a:t>
            </a:r>
          </a:p>
          <a:p>
            <a:r>
              <a:rPr lang="en-US" sz="2400" dirty="0"/>
              <a:t>Designed in a modular way for easier future expansion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17BFC-0A01-D806-DE29-D2BDE0DD13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50630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08C8B-B90E-CDB6-4D22-C29ABB66C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BA9B-58AA-849F-87A0-5BE03C5A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/>
          </a:bodyPr>
          <a:lstStyle/>
          <a:p>
            <a:r>
              <a:rPr lang="en-US" sz="4000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DB945-84AB-30EE-0E15-E425D048C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438922"/>
            <a:ext cx="9097491" cy="4848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System Architecture / Workflow Diagram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The system follows a structured workflow: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1DBC5-6752-46A8-0EF6-D56739141A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2070874-2893-8674-1155-093C144266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2202433"/>
              </p:ext>
            </p:extLst>
          </p:nvPr>
        </p:nvGraphicFramePr>
        <p:xfrm>
          <a:off x="86411" y="2214958"/>
          <a:ext cx="6207026" cy="3296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488BF1A-1FD4-DDA6-9ECE-36D682A03F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628946"/>
              </p:ext>
            </p:extLst>
          </p:nvPr>
        </p:nvGraphicFramePr>
        <p:xfrm>
          <a:off x="6567863" y="2214958"/>
          <a:ext cx="6207026" cy="3296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B3A01D7-BE7C-6C66-29D5-1B2B045AE3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6900086"/>
              </p:ext>
            </p:extLst>
          </p:nvPr>
        </p:nvGraphicFramePr>
        <p:xfrm>
          <a:off x="2379219" y="4933705"/>
          <a:ext cx="3933595" cy="1790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2879A70C-AF57-F516-3CBF-6D3721005156}"/>
              </a:ext>
            </a:extLst>
          </p:cNvPr>
          <p:cNvGrpSpPr/>
          <p:nvPr/>
        </p:nvGrpSpPr>
        <p:grpSpPr>
          <a:xfrm rot="18713311">
            <a:off x="6639281" y="3254379"/>
            <a:ext cx="476055" cy="404378"/>
            <a:chOff x="2753843" y="965405"/>
            <a:chExt cx="476055" cy="404378"/>
          </a:xfrm>
          <a:solidFill>
            <a:schemeClr val="accent2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EF2D48C6-66D4-7D5E-8BB3-8CE599E6975B}"/>
                </a:ext>
              </a:extLst>
            </p:cNvPr>
            <p:cNvSpPr/>
            <p:nvPr/>
          </p:nvSpPr>
          <p:spPr>
            <a:xfrm rot="977207">
              <a:off x="2753843" y="965405"/>
              <a:ext cx="476055" cy="404378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Arrow: Right 4">
              <a:extLst>
                <a:ext uri="{FF2B5EF4-FFF2-40B4-BE49-F238E27FC236}">
                  <a16:creationId xmlns:a16="http://schemas.microsoft.com/office/drawing/2014/main" id="{B28CE198-16A5-FBE5-448B-01233FC07A41}"/>
                </a:ext>
              </a:extLst>
            </p:cNvPr>
            <p:cNvSpPr txBox="1"/>
            <p:nvPr/>
          </p:nvSpPr>
          <p:spPr>
            <a:xfrm rot="977207">
              <a:off x="2756277" y="1029270"/>
              <a:ext cx="354742" cy="24262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7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E3CAAF-6BEA-1D94-739F-01E77F483F0C}"/>
              </a:ext>
            </a:extLst>
          </p:cNvPr>
          <p:cNvGrpSpPr/>
          <p:nvPr/>
        </p:nvGrpSpPr>
        <p:grpSpPr>
          <a:xfrm rot="7681436">
            <a:off x="6557592" y="5256360"/>
            <a:ext cx="476055" cy="404378"/>
            <a:chOff x="2753843" y="965405"/>
            <a:chExt cx="476055" cy="404378"/>
          </a:xfrm>
          <a:solidFill>
            <a:srgbClr val="A5A5A5"/>
          </a:solidFill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079E5DD7-EBAE-2375-8C09-435C9D972CAA}"/>
                </a:ext>
              </a:extLst>
            </p:cNvPr>
            <p:cNvSpPr/>
            <p:nvPr/>
          </p:nvSpPr>
          <p:spPr>
            <a:xfrm rot="977207">
              <a:off x="2753843" y="965405"/>
              <a:ext cx="476055" cy="404378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Arrow: Right 4">
              <a:extLst>
                <a:ext uri="{FF2B5EF4-FFF2-40B4-BE49-F238E27FC236}">
                  <a16:creationId xmlns:a16="http://schemas.microsoft.com/office/drawing/2014/main" id="{E57C94D8-73EA-A5BF-41F4-5AC977C5C8CF}"/>
                </a:ext>
              </a:extLst>
            </p:cNvPr>
            <p:cNvSpPr txBox="1"/>
            <p:nvPr/>
          </p:nvSpPr>
          <p:spPr>
            <a:xfrm rot="977207">
              <a:off x="2756277" y="1029270"/>
              <a:ext cx="354742" cy="24262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7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62916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5AE18-008D-BCCB-E5BE-2DB100CB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B959-D7F8-5EC3-6FF5-9AE83C2F1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000" b="1" dirty="0"/>
              <a:t>Tools, Technologies, and Frameworks Used</a:t>
            </a:r>
          </a:p>
          <a:p>
            <a:r>
              <a:rPr lang="en-US" sz="2400" dirty="0"/>
              <a:t>Python for implementation  </a:t>
            </a:r>
          </a:p>
          <a:p>
            <a:r>
              <a:rPr lang="en-US" sz="2400" dirty="0"/>
              <a:t>pandas and numpy for data processing  </a:t>
            </a:r>
          </a:p>
          <a:p>
            <a:r>
              <a:rPr lang="en-US" sz="2400" dirty="0"/>
              <a:t>scikit-learn for machine learning (KMeans, PCA)  </a:t>
            </a:r>
          </a:p>
          <a:p>
            <a:r>
              <a:rPr lang="en-US" sz="2400" dirty="0"/>
              <a:t>plotly for interactive charts  </a:t>
            </a:r>
          </a:p>
          <a:p>
            <a:r>
              <a:rPr lang="en-US" sz="2400" dirty="0"/>
              <a:t>streamlit for building the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FFFD3-56D1-3E67-E5FE-CDFE7DF16C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45587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84BE9-5691-3E6F-7EF8-F5689518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02A8B-76F6-AA5B-2E7E-A862B9C7E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sz="3000" b="1" dirty="0"/>
              <a:t>Implementation Steps </a:t>
            </a:r>
          </a:p>
          <a:p>
            <a:r>
              <a:rPr lang="en-US" sz="2400" dirty="0"/>
              <a:t>Load and preprocess the dataset  </a:t>
            </a:r>
          </a:p>
          <a:p>
            <a:r>
              <a:rPr lang="en-US" sz="2400" dirty="0"/>
              <a:t>Calculate RFM features for each customer  </a:t>
            </a:r>
          </a:p>
          <a:p>
            <a:r>
              <a:rPr lang="en-US" sz="2400" dirty="0"/>
              <a:t>Normalize the data using StandardScaler  </a:t>
            </a:r>
          </a:p>
          <a:p>
            <a:r>
              <a:rPr lang="en-US" sz="2400" dirty="0"/>
              <a:t>Apply KMeans clustering  </a:t>
            </a:r>
          </a:p>
          <a:p>
            <a:r>
              <a:rPr lang="en-US" sz="2400" dirty="0"/>
              <a:t>Optimize the number of clusters using evaluation metrics  </a:t>
            </a:r>
          </a:p>
          <a:p>
            <a:r>
              <a:rPr lang="en-US" sz="2400" dirty="0"/>
              <a:t>Label clusters based on customer value  </a:t>
            </a:r>
          </a:p>
          <a:p>
            <a:r>
              <a:rPr lang="en-US" sz="2400" dirty="0"/>
              <a:t>Visualize results using charts and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7BCE5-8FF6-1EBE-2271-167B595D11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0825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1A4CF-4BE8-66FC-31F5-81FF55075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3B06-F5FD-A8EE-B352-A48E55B5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EXPERIMENTAL SETUP &amp; DATASET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A015D-2B3C-88B5-9AFA-6D174A8AB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sz="3000" b="1" dirty="0"/>
              <a:t>Description of Dataset Used </a:t>
            </a:r>
          </a:p>
          <a:p>
            <a:r>
              <a:rPr lang="en-US" sz="2400" dirty="0"/>
              <a:t>The dataset contains real transaction-level data of retailers.</a:t>
            </a:r>
          </a:p>
          <a:p>
            <a:r>
              <a:rPr lang="en-US" sz="2400" dirty="0"/>
              <a:t>Size: approximately 51 MB  </a:t>
            </a:r>
          </a:p>
          <a:p>
            <a:r>
              <a:rPr lang="en-US" sz="2400" dirty="0"/>
              <a:t>More than 5,000 retailers  </a:t>
            </a:r>
          </a:p>
          <a:p>
            <a:r>
              <a:rPr lang="en-US" sz="2400" dirty="0"/>
              <a:t>Includes order details, product information, and pricing  </a:t>
            </a:r>
          </a:p>
          <a:p>
            <a:r>
              <a:rPr lang="en-US" sz="2400" dirty="0"/>
              <a:t>From this data, features like recency, frequency, monetary value, and product range are calculated.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AC7F74-D8AA-FC8D-34CB-95957E0131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8652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F49F4-D260-5AAB-8214-FF38299A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5A52-CE41-D481-4C70-A3C1D131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sz="3000" b="1" dirty="0"/>
              <a:t>Experiment Configurations and Parameters </a:t>
            </a:r>
          </a:p>
          <a:p>
            <a:r>
              <a:rPr lang="en-US" sz="2400" dirty="0"/>
              <a:t>KMeans clustering used for segmentation  </a:t>
            </a:r>
          </a:p>
          <a:p>
            <a:r>
              <a:rPr lang="en-US" sz="2400" dirty="0"/>
              <a:t>Cluster range tested from k = 2 to 10  </a:t>
            </a:r>
          </a:p>
          <a:p>
            <a:r>
              <a:rPr lang="en-US" sz="2400" dirty="0"/>
              <a:t>Silhouette score used to select optimal clusters  </a:t>
            </a:r>
          </a:p>
          <a:p>
            <a:r>
              <a:rPr lang="en-US" sz="2400" dirty="0"/>
              <a:t>Data scaled using StandardScaler  </a:t>
            </a:r>
          </a:p>
          <a:p>
            <a:r>
              <a:rPr lang="en-US" sz="2400" dirty="0"/>
              <a:t>PCA used for visualization of clusters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CF2B8-FDE6-CAAB-8C1D-5721EF62DC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67697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56C8A-9AFF-19F8-6141-E202F76A0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5293-D643-651F-4A5E-49FAF0B7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IMPLEMENTATION &amp; FEATURES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0BFD0-8503-E4D7-9394-0F2E08EF75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C9B763-5A3D-3105-D1C5-17A6E630E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718" y="1606693"/>
            <a:ext cx="9769311" cy="48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43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F749C-66C5-1CDB-D9AD-A862B6615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AF22-F264-EDC7-418C-94504B223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000" b="1" dirty="0"/>
              <a:t>Key Functionalities of the Project</a:t>
            </a:r>
            <a:r>
              <a:rPr lang="en-IN" sz="3000" b="1" dirty="0"/>
              <a:t> </a:t>
            </a:r>
          </a:p>
          <a:p>
            <a:r>
              <a:rPr lang="en-US" sz="2400" dirty="0"/>
              <a:t>Automated customer segmentation  </a:t>
            </a:r>
          </a:p>
          <a:p>
            <a:r>
              <a:rPr lang="en-US" sz="2400" dirty="0"/>
              <a:t>Cluster optimization for better grouping  </a:t>
            </a:r>
          </a:p>
          <a:p>
            <a:r>
              <a:rPr lang="en-US" sz="2400" dirty="0"/>
              <a:t>Interactive dashboard with multiple visualizations  </a:t>
            </a:r>
          </a:p>
          <a:p>
            <a:r>
              <a:rPr lang="en-US" sz="2400" dirty="0"/>
              <a:t>Revenue analysis by customer segments  </a:t>
            </a:r>
          </a:p>
          <a:p>
            <a:r>
              <a:rPr lang="en-US" sz="2400" dirty="0"/>
              <a:t>Identification of top customers  </a:t>
            </a:r>
          </a:p>
          <a:p>
            <a:r>
              <a:rPr lang="en-US" sz="2400" dirty="0"/>
              <a:t>Automatic generation of insights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BD394-8931-2685-2F20-46A38F80BA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28439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500FA-4D44-7D32-9CB0-D028E3A4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A39B-DFB1-CF3F-D529-9C3648FE2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/>
          </a:bodyPr>
          <a:lstStyle/>
          <a:p>
            <a:r>
              <a:rPr lang="en-IN" sz="4000" b="1" dirty="0"/>
              <a:t>RESULTS &amp; ANALYSIS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13411-1C91-00B2-A4AB-7EC821785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sz="3000" b="1" dirty="0"/>
              <a:t>Performance Metrics </a:t>
            </a:r>
          </a:p>
          <a:p>
            <a:r>
              <a:rPr lang="en-US" sz="2400" dirty="0"/>
              <a:t>Silhouette Score used to evaluate cluster quality  </a:t>
            </a:r>
          </a:p>
          <a:p>
            <a:r>
              <a:rPr lang="en-US" sz="2400" dirty="0"/>
              <a:t>Davies-Bouldin Index used to measure separation  </a:t>
            </a:r>
          </a:p>
          <a:p>
            <a:r>
              <a:rPr lang="en-US" sz="2400" dirty="0"/>
              <a:t>Calinski-Harabasz Index used to evaluate variance  </a:t>
            </a:r>
          </a:p>
          <a:p>
            <a:r>
              <a:rPr lang="en-US" sz="2400" dirty="0"/>
              <a:t>These metrics confirm that the clustering is meaningful and well-structured.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C801A1-25FE-084A-EFB4-FD43E57DCD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91050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D9F6B-410B-01C6-D130-80E38B7F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928E1-E789-34AE-EEEE-566AC1E6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sz="3000" b="1" dirty="0"/>
              <a:t>Comparisons with Existing Methods</a:t>
            </a:r>
          </a:p>
          <a:p>
            <a:pPr marL="0" indent="0">
              <a:buNone/>
            </a:pPr>
            <a:r>
              <a:rPr lang="en-US" sz="2400" dirty="0"/>
              <a:t>Compared to traditional static segmentation methods, this system:</a:t>
            </a:r>
          </a:p>
          <a:p>
            <a:r>
              <a:rPr lang="en-US" sz="2400" dirty="0"/>
              <a:t>Provides more accurate grouping using optimized clusters  </a:t>
            </a:r>
          </a:p>
          <a:p>
            <a:r>
              <a:rPr lang="en-US" sz="2400" dirty="0"/>
              <a:t>Automates the entire process  </a:t>
            </a:r>
          </a:p>
          <a:p>
            <a:r>
              <a:rPr lang="en-US" sz="2400" dirty="0"/>
              <a:t>Offers interactive visualizations instead of static results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EB225-98E8-82BE-27A7-6DEE4490D7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73572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42295-1017-C67A-0B00-E5F5EB09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19A7-A743-84F7-75DD-C6F00A68B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Segment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32899B-E4D2-4217-23E4-B6082E924B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54D2D0-18E5-9FF0-08BF-B1F4358C8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728" y="2460492"/>
            <a:ext cx="9288544" cy="383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91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932C09-7993-7E03-71A8-0FA6DB098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965D-96E1-CFE3-840A-1562CF54E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Cluster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B46E3-1C01-E6BD-E73E-D2CB48EA9E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2DB40A-6600-BE02-BB74-0C5DF0968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581" y="2317896"/>
            <a:ext cx="9250837" cy="416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95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2ED43-619D-7737-8D13-8BBA38863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93BAA-48C3-5CDD-AB40-AE5E552B2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Revenue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9A05DE-8C52-8BFE-729E-E391FBE553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3EF7AB-25DB-8D32-FB0B-840FF642D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587" y="2358475"/>
            <a:ext cx="9316825" cy="405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3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5241C-9205-7C0E-5204-8D14DC51A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070B8-50C4-5E9C-37DA-B44A499EB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RFM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14164A-60E7-0C63-7ADC-7462E38BD9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1D691F-7373-A6EC-9471-F5403FF7C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96" y="2512469"/>
            <a:ext cx="9557208" cy="36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82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27D2E-CD44-BDF1-5316-7A0A116D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5266-B469-6D5C-38DE-BB7E9F2C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CHALLENGES &amp; LIMITATIONS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C5F26-488F-A830-84DB-31F361BB7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sz="3000" b="1" dirty="0"/>
              <a:t>Issues Faced During Development</a:t>
            </a:r>
          </a:p>
          <a:p>
            <a:r>
              <a:rPr lang="en-US" sz="2400" dirty="0"/>
              <a:t>Handling large datasets efficiently  </a:t>
            </a:r>
          </a:p>
          <a:p>
            <a:r>
              <a:rPr lang="en-US" sz="2400" dirty="0"/>
              <a:t>Selecting the optimal number of clusters  </a:t>
            </a:r>
          </a:p>
          <a:p>
            <a:r>
              <a:rPr lang="en-US" sz="2400" dirty="0"/>
              <a:t>Ensuring proper feature scaling  </a:t>
            </a:r>
          </a:p>
          <a:p>
            <a:r>
              <a:rPr lang="en-US" sz="2400" dirty="0"/>
              <a:t>Designing a clean and responsive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8E88F-8480-D542-2387-F12F327034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62798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4EA7F-0189-1FD2-F37B-07EA4871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CDA02-99F0-2DF2-DFEB-A81DB103A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000" b="1" dirty="0"/>
              <a:t>Limitations of the Proposed Solution</a:t>
            </a:r>
            <a:endParaRPr lang="en-IN" sz="3000" b="1" dirty="0"/>
          </a:p>
          <a:p>
            <a:r>
              <a:rPr lang="en-US" sz="2400" dirty="0"/>
              <a:t>Currently uses a static dataset  </a:t>
            </a:r>
          </a:p>
          <a:p>
            <a:r>
              <a:rPr lang="en-US" sz="2400" dirty="0"/>
              <a:t>Does not include predictive models yet  </a:t>
            </a:r>
          </a:p>
          <a:p>
            <a:r>
              <a:rPr lang="en-US" sz="2400" dirty="0"/>
              <a:t>Limited to Streamlit-based UI  </a:t>
            </a:r>
          </a:p>
          <a:p>
            <a:r>
              <a:rPr lang="en-US" sz="2400" dirty="0"/>
              <a:t>Real-time data processing not implemented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01CD4-DEB4-8CDC-245F-9EE086EC66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18265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F0431-F6A9-25E3-C884-CE75695BC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16C2-ABEB-C504-12E4-0A1FCB49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/>
          </a:bodyPr>
          <a:lstStyle/>
          <a:p>
            <a:r>
              <a:rPr lang="en-IN" sz="4000" b="1" dirty="0"/>
              <a:t>CONCLUSION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867A-5B2A-8B83-AA8D-C9EF0E2FA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sz="3000" b="1" dirty="0"/>
              <a:t>Summary of Findings</a:t>
            </a:r>
            <a:endParaRPr lang="en-IN" sz="3600" b="1" dirty="0"/>
          </a:p>
          <a:p>
            <a:r>
              <a:rPr lang="en-US" sz="2400" dirty="0"/>
              <a:t>The project successfully segments customers into meaningful groups based on their behavior.</a:t>
            </a:r>
          </a:p>
          <a:p>
            <a:r>
              <a:rPr lang="en-US" sz="2400" dirty="0"/>
              <a:t>It demonstrates how machine learning can be used to analyze large datasets and extract useful insights.</a:t>
            </a:r>
          </a:p>
          <a:p>
            <a:r>
              <a:rPr lang="en-US" sz="2400" dirty="0"/>
              <a:t>The dashboard makes it easier to understand and interpret the results.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B8C39-0610-8ED1-E80F-2C024CFA12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56444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91226-8F64-A34F-0386-72D68653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31B80-EE76-F781-20E4-7EB2C52F1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9097491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sz="3000" b="1" dirty="0"/>
              <a:t>Key Takeaways</a:t>
            </a:r>
          </a:p>
          <a:p>
            <a:r>
              <a:rPr lang="en-US" sz="2400" dirty="0"/>
              <a:t>Customer data can provide valuable business insights  </a:t>
            </a:r>
          </a:p>
          <a:p>
            <a:r>
              <a:rPr lang="en-US" sz="2400" dirty="0"/>
              <a:t>Machine learning improves segmentation accuracy  </a:t>
            </a:r>
          </a:p>
          <a:p>
            <a:r>
              <a:rPr lang="en-US" sz="2400" dirty="0"/>
              <a:t>Visualization helps in better decision-making  </a:t>
            </a:r>
          </a:p>
          <a:p>
            <a:r>
              <a:rPr lang="en-US" sz="2400" dirty="0"/>
              <a:t>A modular system allows easy future improvements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3D0C1-4892-5B4D-8AEF-578FE20A2D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54103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1AAB9-9575-6F02-90D2-133EBFFA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03B8-70D4-C823-652B-AC35D425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>
            <a:normAutofit/>
          </a:bodyPr>
          <a:lstStyle/>
          <a:p>
            <a:r>
              <a:rPr lang="en-IN" sz="4000" b="1" dirty="0"/>
              <a:t>REFERENCES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F729-C1D0-0D6B-C5D6-03C1E0C78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355496"/>
            <a:ext cx="10341829" cy="530284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[1]</a:t>
            </a:r>
            <a:br>
              <a:rPr lang="en-IN" sz="1400" dirty="0"/>
            </a:br>
            <a:r>
              <a:rPr lang="en-IN" sz="1400" dirty="0"/>
              <a:t>R. Kumar and S. Singh, “Customer Segmentation Using RFM Analysis and K-Means Clustering,” </a:t>
            </a:r>
            <a:r>
              <a:rPr lang="en-IN" sz="1400" i="1" dirty="0"/>
              <a:t>International Journal of Computer Applications</a:t>
            </a:r>
            <a:r>
              <a:rPr lang="en-IN" sz="1400" dirty="0"/>
              <a:t>, vol. 181, no. 19, pp. 1–6, Oct. 2018.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[2]</a:t>
            </a:r>
            <a:br>
              <a:rPr lang="en-IN" sz="1400" dirty="0"/>
            </a:br>
            <a:r>
              <a:rPr lang="en-IN" sz="1400" dirty="0"/>
              <a:t>T. F. Cox and M. A. A. Cox, </a:t>
            </a:r>
            <a:r>
              <a:rPr lang="en-IN" sz="1400" i="1" dirty="0"/>
              <a:t>Multidimensional Scaling</a:t>
            </a:r>
            <a:r>
              <a:rPr lang="en-IN" sz="1400" dirty="0"/>
              <a:t>, 2nd ed. Boca Raton, FL, USA: Chapman &amp; Hall/CRC, 2000.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[3]</a:t>
            </a:r>
            <a:br>
              <a:rPr lang="en-IN" sz="1400" dirty="0"/>
            </a:br>
            <a:r>
              <a:rPr lang="en-IN" sz="1400" dirty="0"/>
              <a:t>J. Han, M. Kamber, and J. Pei, </a:t>
            </a:r>
            <a:r>
              <a:rPr lang="en-IN" sz="1400" i="1" dirty="0"/>
              <a:t>Data Mining: Concepts and Techniques</a:t>
            </a:r>
            <a:r>
              <a:rPr lang="en-IN" sz="1400" dirty="0"/>
              <a:t>, 3rd ed. San Francisco, CA, USA: Morgan Kaufmann, 2012.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[4]</a:t>
            </a:r>
            <a:br>
              <a:rPr lang="en-IN" sz="1400" dirty="0"/>
            </a:br>
            <a:r>
              <a:rPr lang="en-IN" sz="1400" dirty="0"/>
              <a:t>A. Jain, M. N. Murty, and P. J. Flynn, “Data Clustering: A Review,” </a:t>
            </a:r>
            <a:r>
              <a:rPr lang="en-IN" sz="1400" i="1" dirty="0"/>
              <a:t>ACM Computing Surveys</a:t>
            </a:r>
            <a:r>
              <a:rPr lang="en-IN" sz="1400" dirty="0"/>
              <a:t>, vol. 31, no. 3, pp. 264–323, Sept. 1999.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[5]</a:t>
            </a:r>
            <a:br>
              <a:rPr lang="en-IN" sz="1400" dirty="0"/>
            </a:br>
            <a:r>
              <a:rPr lang="en-IN" sz="1400" dirty="0"/>
              <a:t>P.-N. Tan, M. Steinbach, and V. Kumar, </a:t>
            </a:r>
            <a:r>
              <a:rPr lang="en-IN" sz="1400" i="1" dirty="0"/>
              <a:t>Introduction to Data Mining</a:t>
            </a:r>
            <a:r>
              <a:rPr lang="en-IN" sz="1400" dirty="0"/>
              <a:t>, Boston, MA, USA: Pearson Education, 2014.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[6]</a:t>
            </a:r>
            <a:br>
              <a:rPr lang="en-IN" sz="1400" dirty="0"/>
            </a:br>
            <a:r>
              <a:rPr lang="en-IN" sz="1400" dirty="0"/>
              <a:t>F. Pedregosa </a:t>
            </a:r>
            <a:r>
              <a:rPr lang="en-IN" sz="1400" i="1" dirty="0"/>
              <a:t>et al.</a:t>
            </a:r>
            <a:r>
              <a:rPr lang="en-IN" sz="1400" dirty="0"/>
              <a:t>, “Scikit-learn: Machine Learning in Python,” </a:t>
            </a:r>
            <a:r>
              <a:rPr lang="en-IN" sz="1400" i="1" dirty="0"/>
              <a:t>Journal of Machine Learning Research</a:t>
            </a:r>
            <a:r>
              <a:rPr lang="en-IN" sz="1400" dirty="0"/>
              <a:t>, vol. 12, pp. 2825–2830, 2011.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[7]</a:t>
            </a:r>
            <a:br>
              <a:rPr lang="en-IN" sz="1400" dirty="0"/>
            </a:br>
            <a:r>
              <a:rPr lang="en-IN" sz="1400" dirty="0"/>
              <a:t>I. T. Jolliffe, </a:t>
            </a:r>
            <a:r>
              <a:rPr lang="en-IN" sz="1400" i="1" dirty="0"/>
              <a:t>Principal Component Analysis</a:t>
            </a:r>
            <a:r>
              <a:rPr lang="en-IN" sz="1400" dirty="0"/>
              <a:t>, 2nd ed. New York, NY, USA: Springer, 2002.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[8]</a:t>
            </a:r>
            <a:br>
              <a:rPr lang="en-IN" sz="1400" dirty="0"/>
            </a:br>
            <a:r>
              <a:rPr lang="en-IN" sz="1400" dirty="0"/>
              <a:t>R. S. Winer, “A Framework for Customer Relationship Management,” </a:t>
            </a:r>
            <a:r>
              <a:rPr lang="en-IN" sz="1400" i="1" dirty="0"/>
              <a:t>California Management Review</a:t>
            </a:r>
            <a:r>
              <a:rPr lang="en-IN" sz="1400" dirty="0"/>
              <a:t>, vol. 43, no. 4, pp. 89–105, Summer 2001.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[9]</a:t>
            </a:r>
            <a:br>
              <a:rPr lang="en-IN" sz="1400" dirty="0"/>
            </a:br>
            <a:r>
              <a:rPr lang="en-IN" sz="1400" dirty="0"/>
              <a:t>B. McCarty and T. Hastak, “Segmentation Approaches in Data-Driven Marketing,” </a:t>
            </a:r>
            <a:r>
              <a:rPr lang="en-IN" sz="1400" i="1" dirty="0"/>
              <a:t>Journal of Marketing Analytics</a:t>
            </a:r>
            <a:r>
              <a:rPr lang="en-IN" sz="1400" dirty="0"/>
              <a:t>, vol. 5, no. 3, pp. 123–134, 2017.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D89CB-90F6-2C23-403E-DCE70F8750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71625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1074</TotalTime>
  <Words>1350</Words>
  <Application>Microsoft Office PowerPoint</Application>
  <PresentationFormat>Widescreen</PresentationFormat>
  <Paragraphs>181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Times New Roman</vt:lpstr>
      <vt:lpstr>Office 2013 - 2022 Theme</vt:lpstr>
      <vt:lpstr>Dynamic Customer Behavior Segmentation &amp; Retail Analytics Platform</vt:lpstr>
      <vt:lpstr>Internship Company Details</vt:lpstr>
      <vt:lpstr>Internship Company Details</vt:lpstr>
      <vt:lpstr>INTRODUCTION</vt:lpstr>
      <vt:lpstr>PowerPoint Presentation</vt:lpstr>
      <vt:lpstr>PowerPoint Presentation</vt:lpstr>
      <vt:lpstr>LITERATURE REVIEW</vt:lpstr>
      <vt:lpstr>PowerPoint Presentation</vt:lpstr>
      <vt:lpstr>PROPOSED SOLUTION</vt:lpstr>
      <vt:lpstr>PowerPoint Presentation</vt:lpstr>
      <vt:lpstr>METHODOLOGY</vt:lpstr>
      <vt:lpstr>PowerPoint Presentation</vt:lpstr>
      <vt:lpstr>PowerPoint Presentation</vt:lpstr>
      <vt:lpstr>EXPERIMENTAL SETUP &amp; DATASET</vt:lpstr>
      <vt:lpstr>PowerPoint Presentation</vt:lpstr>
      <vt:lpstr>IMPLEMENTATION &amp; FEATURES</vt:lpstr>
      <vt:lpstr>PowerPoint Presentation</vt:lpstr>
      <vt:lpstr>RESULTS &amp;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&amp; LIMITATIONS</vt:lpstr>
      <vt:lpstr>PowerPoint Presentation</vt:lpstr>
      <vt:lpstr>CONCLUSION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Susheel Kumar K [MAHE-MITBLR]</dc:creator>
  <cp:lastModifiedBy>Aditya Chitransh</cp:lastModifiedBy>
  <cp:revision>7</cp:revision>
  <dcterms:created xsi:type="dcterms:W3CDTF">2025-02-28T09:17:15Z</dcterms:created>
  <dcterms:modified xsi:type="dcterms:W3CDTF">2026-03-24T03:50:30Z</dcterms:modified>
</cp:coreProperties>
</file>